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1"/>
  </p:notesMasterIdLst>
  <p:sldIdLst>
    <p:sldId id="290" r:id="rId2"/>
    <p:sldId id="291" r:id="rId3"/>
    <p:sldId id="292" r:id="rId4"/>
    <p:sldId id="293" r:id="rId5"/>
    <p:sldId id="294" r:id="rId6"/>
    <p:sldId id="295" r:id="rId7"/>
    <p:sldId id="296" r:id="rId8"/>
    <p:sldId id="310" r:id="rId9"/>
    <p:sldId id="298" r:id="rId10"/>
    <p:sldId id="299" r:id="rId11"/>
    <p:sldId id="301" r:id="rId12"/>
    <p:sldId id="311" r:id="rId13"/>
    <p:sldId id="312" r:id="rId14"/>
    <p:sldId id="313" r:id="rId15"/>
    <p:sldId id="316" r:id="rId16"/>
    <p:sldId id="315" r:id="rId17"/>
    <p:sldId id="314" r:id="rId18"/>
    <p:sldId id="317" r:id="rId19"/>
    <p:sldId id="318" r:id="rId20"/>
    <p:sldId id="321" r:id="rId21"/>
    <p:sldId id="319" r:id="rId22"/>
    <p:sldId id="320" r:id="rId23"/>
    <p:sldId id="304" r:id="rId24"/>
    <p:sldId id="305" r:id="rId25"/>
    <p:sldId id="306" r:id="rId26"/>
    <p:sldId id="307" r:id="rId27"/>
    <p:sldId id="322" r:id="rId28"/>
    <p:sldId id="308" r:id="rId29"/>
    <p:sldId id="309" r:id="rId30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2" roundtripDataSignature="AMtx7mjt3491jQ7aCoyIz2WXeHKroE7t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597DED7-87E9-8FFE-C42B-07F44890EE69}" v="36" dt="2026-07-14T12:42:56.737"/>
  </p1510:revLst>
</p1510:revInfo>
</file>

<file path=ppt/tableStyles.xml><?xml version="1.0" encoding="utf-8"?>
<a:tblStyleLst xmlns:a="http://schemas.openxmlformats.org/drawingml/2006/main" def="{0AAD8F4D-43EB-41E5-8A38-28AB6DFB1B60}">
  <a:tblStyle styleId="{0AAD8F4D-43EB-41E5-8A38-28AB6DFB1B6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1301" y="3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customschemas.google.com/relationships/presentationmetadata" Target="metadata"/><Relationship Id="rId37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man Shrivastava" userId="S::ashrivastava@edunetfoundation.org::c21995ab-fa37-4cde-b5a3-dec0fb9e9a10" providerId="AD" clId="Web-{088AD18C-7811-B1E2-9ED5-57A1A5542DF6}"/>
    <pc:docChg chg="addSld delSld modSld sldOrd">
      <pc:chgData name="Aman Shrivastava" userId="S::ashrivastava@edunetfoundation.org::c21995ab-fa37-4cde-b5a3-dec0fb9e9a10" providerId="AD" clId="Web-{088AD18C-7811-B1E2-9ED5-57A1A5542DF6}" dt="2026-06-19T06:28:44.546" v="262"/>
      <pc:docMkLst>
        <pc:docMk/>
      </pc:docMkLst>
      <pc:sldChg chg="addSp delSp modSp">
        <pc:chgData name="Aman Shrivastava" userId="S::ashrivastava@edunetfoundation.org::c21995ab-fa37-4cde-b5a3-dec0fb9e9a10" providerId="AD" clId="Web-{088AD18C-7811-B1E2-9ED5-57A1A5542DF6}" dt="2026-06-19T06:24:33.481" v="246"/>
        <pc:sldMkLst>
          <pc:docMk/>
          <pc:sldMk cId="0" sldId="257"/>
        </pc:sldMkLst>
        <pc:spChg chg="add mod">
          <ac:chgData name="Aman Shrivastava" userId="S::ashrivastava@edunetfoundation.org::c21995ab-fa37-4cde-b5a3-dec0fb9e9a10" providerId="AD" clId="Web-{088AD18C-7811-B1E2-9ED5-57A1A5542DF6}" dt="2026-06-19T06:23:34.731" v="211" actId="20577"/>
          <ac:spMkLst>
            <pc:docMk/>
            <pc:sldMk cId="0" sldId="257"/>
            <ac:spMk id="3" creationId="{B0B023FA-CFEB-ACE9-8425-7E72E307CDC5}"/>
          </ac:spMkLst>
        </pc:spChg>
      </pc:sldChg>
      <pc:sldChg chg="addSp delSp modSp">
        <pc:chgData name="Aman Shrivastava" userId="S::ashrivastava@edunetfoundation.org::c21995ab-fa37-4cde-b5a3-dec0fb9e9a10" providerId="AD" clId="Web-{088AD18C-7811-B1E2-9ED5-57A1A5542DF6}" dt="2026-06-19T06:15:34.945" v="78" actId="1076"/>
        <pc:sldMkLst>
          <pc:docMk/>
          <pc:sldMk cId="0" sldId="262"/>
        </pc:sldMkLst>
        <pc:picChg chg="add mod">
          <ac:chgData name="Aman Shrivastava" userId="S::ashrivastava@edunetfoundation.org::c21995ab-fa37-4cde-b5a3-dec0fb9e9a10" providerId="AD" clId="Web-{088AD18C-7811-B1E2-9ED5-57A1A5542DF6}" dt="2026-06-19T06:15:34.945" v="78" actId="1076"/>
          <ac:picMkLst>
            <pc:docMk/>
            <pc:sldMk cId="0" sldId="262"/>
            <ac:picMk id="3" creationId="{81932CE2-F219-0CA8-0102-55B8C682B8A2}"/>
          </ac:picMkLst>
        </pc:picChg>
      </pc:sldChg>
      <pc:sldChg chg="addSp delSp modSp">
        <pc:chgData name="Aman Shrivastava" userId="S::ashrivastava@edunetfoundation.org::c21995ab-fa37-4cde-b5a3-dec0fb9e9a10" providerId="AD" clId="Web-{088AD18C-7811-B1E2-9ED5-57A1A5542DF6}" dt="2026-06-19T06:25:36.169" v="257" actId="20577"/>
        <pc:sldMkLst>
          <pc:docMk/>
          <pc:sldMk cId="2115484872" sldId="277"/>
        </pc:sldMkLst>
        <pc:spChg chg="add mod">
          <ac:chgData name="Aman Shrivastava" userId="S::ashrivastava@edunetfoundation.org::c21995ab-fa37-4cde-b5a3-dec0fb9e9a10" providerId="AD" clId="Web-{088AD18C-7811-B1E2-9ED5-57A1A5542DF6}" dt="2026-06-19T06:25:32.075" v="255" actId="20577"/>
          <ac:spMkLst>
            <pc:docMk/>
            <pc:sldMk cId="2115484872" sldId="277"/>
            <ac:spMk id="14" creationId="{7B8E599E-5B1D-59CD-4F1D-CEF8D0CA327B}"/>
          </ac:spMkLst>
        </pc:spChg>
        <pc:spChg chg="add mod">
          <ac:chgData name="Aman Shrivastava" userId="S::ashrivastava@edunetfoundation.org::c21995ab-fa37-4cde-b5a3-dec0fb9e9a10" providerId="AD" clId="Web-{088AD18C-7811-B1E2-9ED5-57A1A5542DF6}" dt="2026-06-19T06:25:36.169" v="257" actId="20577"/>
          <ac:spMkLst>
            <pc:docMk/>
            <pc:sldMk cId="2115484872" sldId="277"/>
            <ac:spMk id="15" creationId="{B22EA981-5113-2D05-C1A2-169306E1D47C}"/>
          </ac:spMkLst>
        </pc:spChg>
        <pc:picChg chg="add mod">
          <ac:chgData name="Aman Shrivastava" userId="S::ashrivastava@edunetfoundation.org::c21995ab-fa37-4cde-b5a3-dec0fb9e9a10" providerId="AD" clId="Web-{088AD18C-7811-B1E2-9ED5-57A1A5542DF6}" dt="2026-06-19T06:25:26.403" v="253" actId="1076"/>
          <ac:picMkLst>
            <pc:docMk/>
            <pc:sldMk cId="2115484872" sldId="277"/>
            <ac:picMk id="12" creationId="{3E29AF1D-88C4-87E5-74DF-4E97121E06CE}"/>
          </ac:picMkLst>
        </pc:picChg>
        <pc:picChg chg="add mod">
          <ac:chgData name="Aman Shrivastava" userId="S::ashrivastava@edunetfoundation.org::c21995ab-fa37-4cde-b5a3-dec0fb9e9a10" providerId="AD" clId="Web-{088AD18C-7811-B1E2-9ED5-57A1A5542DF6}" dt="2026-06-19T06:25:26.403" v="254" actId="1076"/>
          <ac:picMkLst>
            <pc:docMk/>
            <pc:sldMk cId="2115484872" sldId="277"/>
            <ac:picMk id="13" creationId="{C81444F5-0692-DD67-1759-70821E53B029}"/>
          </ac:picMkLst>
        </pc:picChg>
      </pc:sldChg>
      <pc:sldChg chg="addSp delSp modSp add del ord">
        <pc:chgData name="Aman Shrivastava" userId="S::ashrivastava@edunetfoundation.org::c21995ab-fa37-4cde-b5a3-dec0fb9e9a10" providerId="AD" clId="Web-{088AD18C-7811-B1E2-9ED5-57A1A5542DF6}" dt="2026-06-19T06:28:44.546" v="262"/>
        <pc:sldMkLst>
          <pc:docMk/>
          <pc:sldMk cId="3764405840" sldId="278"/>
        </pc:sldMkLst>
        <pc:spChg chg="add del mod">
          <ac:chgData name="Aman Shrivastava" userId="S::ashrivastava@edunetfoundation.org::c21995ab-fa37-4cde-b5a3-dec0fb9e9a10" providerId="AD" clId="Web-{088AD18C-7811-B1E2-9ED5-57A1A5542DF6}" dt="2026-06-19T06:06:19.065" v="68" actId="20577"/>
          <ac:spMkLst>
            <pc:docMk/>
            <pc:sldMk cId="3764405840" sldId="278"/>
            <ac:spMk id="2" creationId="{151FBD4A-3273-E454-091D-D5B0678FC299}"/>
          </ac:spMkLst>
        </pc:spChg>
      </pc:sldChg>
      <pc:sldChg chg="addSp delSp modSp">
        <pc:chgData name="Aman Shrivastava" userId="S::ashrivastava@edunetfoundation.org::c21995ab-fa37-4cde-b5a3-dec0fb9e9a10" providerId="AD" clId="Web-{088AD18C-7811-B1E2-9ED5-57A1A5542DF6}" dt="2026-06-19T06:11:15.349" v="75" actId="1076"/>
        <pc:sldMkLst>
          <pc:docMk/>
          <pc:sldMk cId="2772501912" sldId="279"/>
        </pc:sldMkLst>
        <pc:picChg chg="add mod">
          <ac:chgData name="Aman Shrivastava" userId="S::ashrivastava@edunetfoundation.org::c21995ab-fa37-4cde-b5a3-dec0fb9e9a10" providerId="AD" clId="Web-{088AD18C-7811-B1E2-9ED5-57A1A5542DF6}" dt="2026-06-19T06:11:15.349" v="75" actId="1076"/>
          <ac:picMkLst>
            <pc:docMk/>
            <pc:sldMk cId="2772501912" sldId="279"/>
            <ac:picMk id="4" creationId="{C597681A-DF93-B190-DD21-CBAEDA4E3CBF}"/>
          </ac:picMkLst>
        </pc:picChg>
      </pc:sldChg>
      <pc:sldChg chg="addSp delSp ord">
        <pc:chgData name="Aman Shrivastava" userId="S::ashrivastava@edunetfoundation.org::c21995ab-fa37-4cde-b5a3-dec0fb9e9a10" providerId="AD" clId="Web-{088AD18C-7811-B1E2-9ED5-57A1A5542DF6}" dt="2026-06-19T06:27:30.076" v="259"/>
        <pc:sldMkLst>
          <pc:docMk/>
          <pc:sldMk cId="2605851928" sldId="287"/>
        </pc:sldMkLst>
      </pc:sldChg>
      <pc:sldChg chg="addSp delSp modSp new">
        <pc:chgData name="Aman Shrivastava" userId="S::ashrivastava@edunetfoundation.org::c21995ab-fa37-4cde-b5a3-dec0fb9e9a10" providerId="AD" clId="Web-{088AD18C-7811-B1E2-9ED5-57A1A5542DF6}" dt="2026-06-19T05:49:31.148" v="36" actId="20577"/>
        <pc:sldMkLst>
          <pc:docMk/>
          <pc:sldMk cId="1229047658" sldId="288"/>
        </pc:sldMkLst>
        <pc:spChg chg="add mod">
          <ac:chgData name="Aman Shrivastava" userId="S::ashrivastava@edunetfoundation.org::c21995ab-fa37-4cde-b5a3-dec0fb9e9a10" providerId="AD" clId="Web-{088AD18C-7811-B1E2-9ED5-57A1A5542DF6}" dt="2026-06-19T05:49:31.148" v="36" actId="20577"/>
          <ac:spMkLst>
            <pc:docMk/>
            <pc:sldMk cId="1229047658" sldId="288"/>
            <ac:spMk id="6" creationId="{3F1C7BCA-5DD7-F4D3-A937-D1C56976DA01}"/>
          </ac:spMkLst>
        </pc:spChg>
      </pc:sldChg>
    </pc:docChg>
  </pc:docChgLst>
  <pc:docChgLst>
    <pc:chgData name="Aman Shrivastava" userId="S::ashrivastava@edunetfoundation.org::c21995ab-fa37-4cde-b5a3-dec0fb9e9a10" providerId="AD" clId="Web-{E27D249D-B118-0810-7731-E1B1C378D9D3}"/>
    <pc:docChg chg="modSld">
      <pc:chgData name="Aman Shrivastava" userId="S::ashrivastava@edunetfoundation.org::c21995ab-fa37-4cde-b5a3-dec0fb9e9a10" providerId="AD" clId="Web-{E27D249D-B118-0810-7731-E1B1C378D9D3}" dt="2026-06-19T09:09:54.163" v="1" actId="20577"/>
      <pc:docMkLst>
        <pc:docMk/>
      </pc:docMkLst>
      <pc:sldChg chg="modSp">
        <pc:chgData name="Aman Shrivastava" userId="S::ashrivastava@edunetfoundation.org::c21995ab-fa37-4cde-b5a3-dec0fb9e9a10" providerId="AD" clId="Web-{E27D249D-B118-0810-7731-E1B1C378D9D3}" dt="2026-06-19T09:09:54.163" v="1" actId="20577"/>
        <pc:sldMkLst>
          <pc:docMk/>
          <pc:sldMk cId="3764405840" sldId="278"/>
        </pc:sldMkLst>
        <pc:spChg chg="mod">
          <ac:chgData name="Aman Shrivastava" userId="S::ashrivastava@edunetfoundation.org::c21995ab-fa37-4cde-b5a3-dec0fb9e9a10" providerId="AD" clId="Web-{E27D249D-B118-0810-7731-E1B1C378D9D3}" dt="2026-06-19T09:09:54.163" v="1" actId="20577"/>
          <ac:spMkLst>
            <pc:docMk/>
            <pc:sldMk cId="3764405840" sldId="278"/>
            <ac:spMk id="3" creationId="{4A7608B5-9906-EFCF-959A-E89FC2E3EE19}"/>
          </ac:spMkLst>
        </pc:spChg>
      </pc:sldChg>
    </pc:docChg>
  </pc:docChgLst>
  <pc:docChgLst>
    <pc:chgData name="Bhupesh Vyankat Ther" userId="S::bvther@edunetfoundation.org::3dcf1697-dd97-45f9-859f-b5bba4487417" providerId="AD" clId="Web-{9DDCDCB8-E336-06C9-9BC1-C212CD122CD0}"/>
    <pc:docChg chg="modSld">
      <pc:chgData name="Bhupesh Vyankat Ther" userId="S::bvther@edunetfoundation.org::3dcf1697-dd97-45f9-859f-b5bba4487417" providerId="AD" clId="Web-{9DDCDCB8-E336-06C9-9BC1-C212CD122CD0}" dt="2026-06-23T04:41:50.196" v="0" actId="1076"/>
      <pc:docMkLst>
        <pc:docMk/>
      </pc:docMkLst>
      <pc:sldChg chg="modSp">
        <pc:chgData name="Bhupesh Vyankat Ther" userId="S::bvther@edunetfoundation.org::3dcf1697-dd97-45f9-859f-b5bba4487417" providerId="AD" clId="Web-{9DDCDCB8-E336-06C9-9BC1-C212CD122CD0}" dt="2026-06-23T04:41:50.196" v="0" actId="1076"/>
        <pc:sldMkLst>
          <pc:docMk/>
          <pc:sldMk cId="1229047658" sldId="288"/>
        </pc:sldMkLst>
        <pc:picChg chg="mod">
          <ac:chgData name="Bhupesh Vyankat Ther" userId="S::bvther@edunetfoundation.org::3dcf1697-dd97-45f9-859f-b5bba4487417" providerId="AD" clId="Web-{9DDCDCB8-E336-06C9-9BC1-C212CD122CD0}" dt="2026-06-23T04:41:50.196" v="0" actId="1076"/>
          <ac:picMkLst>
            <pc:docMk/>
            <pc:sldMk cId="1229047658" sldId="288"/>
            <ac:picMk id="4" creationId="{A037CFD0-B7FF-D9BE-3433-88E5844EF332}"/>
          </ac:picMkLst>
        </pc:picChg>
      </pc:sldChg>
    </pc:docChg>
  </pc:docChgLst>
  <pc:docChgLst>
    <pc:chgData name="Aswini Kumar Motapothula" userId="S::aswinikumar@edunetfoundation.org::8849ae8d-bc89-4217-899c-9440ffcae5bb" providerId="AD" clId="Web-{5597DED7-87E9-8FFE-C42B-07F44890EE69}"/>
    <pc:docChg chg="addSld delSld">
      <pc:chgData name="Aswini Kumar Motapothula" userId="S::aswinikumar@edunetfoundation.org::8849ae8d-bc89-4217-899c-9440ffcae5bb" providerId="AD" clId="Web-{5597DED7-87E9-8FFE-C42B-07F44890EE69}" dt="2026-07-14T12:42:56.737" v="35"/>
      <pc:docMkLst>
        <pc:docMk/>
      </pc:docMkLst>
      <pc:sldChg chg="del">
        <pc:chgData name="Aswini Kumar Motapothula" userId="S::aswinikumar@edunetfoundation.org::8849ae8d-bc89-4217-899c-9440ffcae5bb" providerId="AD" clId="Web-{5597DED7-87E9-8FFE-C42B-07F44890EE69}" dt="2026-07-14T12:42:56.737" v="35"/>
        <pc:sldMkLst>
          <pc:docMk/>
          <pc:sldMk cId="0" sldId="257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37" v="29"/>
        <pc:sldMkLst>
          <pc:docMk/>
          <pc:sldMk cId="0" sldId="262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37" v="28"/>
        <pc:sldMkLst>
          <pc:docMk/>
          <pc:sldMk cId="0" sldId="264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21" v="21"/>
        <pc:sldMkLst>
          <pc:docMk/>
          <pc:sldMk cId="0" sldId="276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37" v="27"/>
        <pc:sldMkLst>
          <pc:docMk/>
          <pc:sldMk cId="2115484872" sldId="277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37" v="32"/>
        <pc:sldMkLst>
          <pc:docMk/>
          <pc:sldMk cId="3764405840" sldId="278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37" v="30"/>
        <pc:sldMkLst>
          <pc:docMk/>
          <pc:sldMk cId="2772501912" sldId="279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21" v="24"/>
        <pc:sldMkLst>
          <pc:docMk/>
          <pc:sldMk cId="2136706720" sldId="280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37" v="31"/>
        <pc:sldMkLst>
          <pc:docMk/>
          <pc:sldMk cId="328526394" sldId="281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37" v="34"/>
        <pc:sldMkLst>
          <pc:docMk/>
          <pc:sldMk cId="2952584201" sldId="282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42.455" v="20"/>
        <pc:sldMkLst>
          <pc:docMk/>
          <pc:sldMk cId="957564641" sldId="283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37" v="33"/>
        <pc:sldMkLst>
          <pc:docMk/>
          <pc:sldMk cId="2290294991" sldId="285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37" v="26"/>
        <pc:sldMkLst>
          <pc:docMk/>
          <pc:sldMk cId="917964102" sldId="286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21" v="25"/>
        <pc:sldMkLst>
          <pc:docMk/>
          <pc:sldMk cId="2605851928" sldId="287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21" v="23"/>
        <pc:sldMkLst>
          <pc:docMk/>
          <pc:sldMk cId="1229047658" sldId="288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21" v="22"/>
        <pc:sldMkLst>
          <pc:docMk/>
          <pc:sldMk cId="2506610743" sldId="289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8.157" v="0"/>
        <pc:sldMkLst>
          <pc:docMk/>
          <pc:sldMk cId="3828559527" sldId="290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8.204" v="1"/>
        <pc:sldMkLst>
          <pc:docMk/>
          <pc:sldMk cId="952317876" sldId="291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8.266" v="2"/>
        <pc:sldMkLst>
          <pc:docMk/>
          <pc:sldMk cId="261653373" sldId="292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8.313" v="3"/>
        <pc:sldMkLst>
          <pc:docMk/>
          <pc:sldMk cId="619459906" sldId="293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8.360" v="4"/>
        <pc:sldMkLst>
          <pc:docMk/>
          <pc:sldMk cId="443603904" sldId="294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8.563" v="5"/>
        <pc:sldMkLst>
          <pc:docMk/>
          <pc:sldMk cId="3114963633" sldId="295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8.735" v="6"/>
        <pc:sldMkLst>
          <pc:docMk/>
          <pc:sldMk cId="1316545553" sldId="296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8.923" v="7"/>
        <pc:sldMkLst>
          <pc:docMk/>
          <pc:sldMk cId="232371894" sldId="297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9.094" v="8"/>
        <pc:sldMkLst>
          <pc:docMk/>
          <pc:sldMk cId="445195169" sldId="298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9.235" v="9"/>
        <pc:sldMkLst>
          <pc:docMk/>
          <pc:sldMk cId="4000696967" sldId="299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9.345" v="10"/>
        <pc:sldMkLst>
          <pc:docMk/>
          <pc:sldMk cId="893417001" sldId="300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9.548" v="11"/>
        <pc:sldMkLst>
          <pc:docMk/>
          <pc:sldMk cId="1429961814" sldId="301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9.704" v="12"/>
        <pc:sldMkLst>
          <pc:docMk/>
          <pc:sldMk cId="3585092305" sldId="302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9.876" v="13"/>
        <pc:sldMkLst>
          <pc:docMk/>
          <pc:sldMk cId="2601907186" sldId="303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9.938" v="14"/>
        <pc:sldMkLst>
          <pc:docMk/>
          <pc:sldMk cId="2325282270" sldId="304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9.970" v="15"/>
        <pc:sldMkLst>
          <pc:docMk/>
          <pc:sldMk cId="4040412275" sldId="305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30.016" v="16"/>
        <pc:sldMkLst>
          <pc:docMk/>
          <pc:sldMk cId="740028465" sldId="306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30.157" v="17"/>
        <pc:sldMkLst>
          <pc:docMk/>
          <pc:sldMk cId="2833482715" sldId="307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30.282" v="18"/>
        <pc:sldMkLst>
          <pc:docMk/>
          <pc:sldMk cId="4175177701" sldId="308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30.391" v="19"/>
        <pc:sldMkLst>
          <pc:docMk/>
          <pc:sldMk cId="1440137342" sldId="309"/>
        </pc:sldMkLst>
      </pc:sldChg>
    </pc:docChg>
  </pc:docChgLst>
  <pc:docChgLst>
    <pc:chgData name="Aswini Kumar Motapothula" userId="S::aswinikumar@edunetfoundation.org::8849ae8d-bc89-4217-899c-9440ffcae5bb" providerId="AD" clId="Web-{0037A25B-DA5D-A37C-3B36-7F0977405ABF}"/>
    <pc:docChg chg="addSld modSld">
      <pc:chgData name="Aswini Kumar Motapothula" userId="S::aswinikumar@edunetfoundation.org::8849ae8d-bc89-4217-899c-9440ffcae5bb" providerId="AD" clId="Web-{0037A25B-DA5D-A37C-3B36-7F0977405ABF}" dt="2026-06-19T05:59:39.887" v="95" actId="20577"/>
      <pc:docMkLst>
        <pc:docMk/>
      </pc:docMkLst>
      <pc:sldChg chg="addSp delSp modSp">
        <pc:chgData name="Aswini Kumar Motapothula" userId="S::aswinikumar@edunetfoundation.org::8849ae8d-bc89-4217-899c-9440ffcae5bb" providerId="AD" clId="Web-{0037A25B-DA5D-A37C-3B36-7F0977405ABF}" dt="2026-06-19T05:59:39.887" v="95" actId="20577"/>
        <pc:sldMkLst>
          <pc:docMk/>
          <pc:sldMk cId="1229047658" sldId="288"/>
        </pc:sldMkLst>
        <pc:spChg chg="add mod">
          <ac:chgData name="Aswini Kumar Motapothula" userId="S::aswinikumar@edunetfoundation.org::8849ae8d-bc89-4217-899c-9440ffcae5bb" providerId="AD" clId="Web-{0037A25B-DA5D-A37C-3B36-7F0977405ABF}" dt="2026-06-19T05:59:39.887" v="95" actId="20577"/>
          <ac:spMkLst>
            <pc:docMk/>
            <pc:sldMk cId="1229047658" sldId="288"/>
            <ac:spMk id="3" creationId="{4837D5EE-379B-FDC5-0854-8AC81D31FADF}"/>
          </ac:spMkLst>
        </pc:spChg>
      </pc:sldChg>
      <pc:sldChg chg="addSp delSp modSp new">
        <pc:chgData name="Aswini Kumar Motapothula" userId="S::aswinikumar@edunetfoundation.org::8849ae8d-bc89-4217-899c-9440ffcae5bb" providerId="AD" clId="Web-{0037A25B-DA5D-A37C-3B36-7F0977405ABF}" dt="2026-06-19T05:55:38.278" v="91" actId="1076"/>
        <pc:sldMkLst>
          <pc:docMk/>
          <pc:sldMk cId="2506610743" sldId="289"/>
        </pc:sldMkLst>
        <pc:spChg chg="add mod">
          <ac:chgData name="Aswini Kumar Motapothula" userId="S::aswinikumar@edunetfoundation.org::8849ae8d-bc89-4217-899c-9440ffcae5bb" providerId="AD" clId="Web-{0037A25B-DA5D-A37C-3B36-7F0977405ABF}" dt="2026-06-19T05:54:43.950" v="57" actId="1076"/>
          <ac:spMkLst>
            <pc:docMk/>
            <pc:sldMk cId="2506610743" sldId="289"/>
            <ac:spMk id="5" creationId="{CA8544A9-CF92-3FAF-D3EE-31DF90F7A64D}"/>
          </ac:spMkLst>
        </pc:spChg>
        <pc:spChg chg="add mod">
          <ac:chgData name="Aswini Kumar Motapothula" userId="S::aswinikumar@edunetfoundation.org::8849ae8d-bc89-4217-899c-9440ffcae5bb" providerId="AD" clId="Web-{0037A25B-DA5D-A37C-3B36-7F0977405ABF}" dt="2026-06-19T05:55:27.278" v="87" actId="20577"/>
          <ac:spMkLst>
            <pc:docMk/>
            <pc:sldMk cId="2506610743" sldId="289"/>
            <ac:spMk id="6" creationId="{C0D36B1A-26C2-CD55-1032-4CB5E4EDF305}"/>
          </ac:spMkLst>
        </pc:spChg>
        <pc:picChg chg="add mod modCrop">
          <ac:chgData name="Aswini Kumar Motapothula" userId="S::aswinikumar@edunetfoundation.org::8849ae8d-bc89-4217-899c-9440ffcae5bb" providerId="AD" clId="Web-{0037A25B-DA5D-A37C-3B36-7F0977405ABF}" dt="2026-06-19T05:55:38.278" v="91" actId="1076"/>
          <ac:picMkLst>
            <pc:docMk/>
            <pc:sldMk cId="2506610743" sldId="289"/>
            <ac:picMk id="4" creationId="{099C3698-991D-7A38-C456-893C84C23FC9}"/>
          </ac:picMkLst>
        </pc:picChg>
      </pc:sldChg>
    </pc:docChg>
  </pc:docChgLst>
  <pc:docChgLst>
    <pc:chgData name="Aman Shrivastava" userId="S::ashrivastava@edunetfoundation.org::c21995ab-fa37-4cde-b5a3-dec0fb9e9a10" providerId="AD" clId="Web-{A6B9108B-7598-1D50-C4AA-8A38026DAEEF}"/>
    <pc:docChg chg="modSld">
      <pc:chgData name="Aman Shrivastava" userId="S::ashrivastava@edunetfoundation.org::c21995ab-fa37-4cde-b5a3-dec0fb9e9a10" providerId="AD" clId="Web-{A6B9108B-7598-1D50-C4AA-8A38026DAEEF}" dt="2026-06-19T06:56:18.840" v="15" actId="20577"/>
      <pc:docMkLst>
        <pc:docMk/>
      </pc:docMkLst>
      <pc:sldChg chg="modSp">
        <pc:chgData name="Aman Shrivastava" userId="S::ashrivastava@edunetfoundation.org::c21995ab-fa37-4cde-b5a3-dec0fb9e9a10" providerId="AD" clId="Web-{A6B9108B-7598-1D50-C4AA-8A38026DAEEF}" dt="2026-06-19T06:56:18.840" v="15" actId="20577"/>
        <pc:sldMkLst>
          <pc:docMk/>
          <pc:sldMk cId="2605851928" sldId="287"/>
        </pc:sldMkLst>
        <pc:spChg chg="mod">
          <ac:chgData name="Aman Shrivastava" userId="S::ashrivastava@edunetfoundation.org::c21995ab-fa37-4cde-b5a3-dec0fb9e9a10" providerId="AD" clId="Web-{A6B9108B-7598-1D50-C4AA-8A38026DAEEF}" dt="2026-06-19T06:56:18.840" v="15" actId="20577"/>
          <ac:spMkLst>
            <pc:docMk/>
            <pc:sldMk cId="2605851928" sldId="287"/>
            <ac:spMk id="279" creationId="{3711AF54-94A6-B837-31EF-9A8C4ECB9AF6}"/>
          </ac:spMkLst>
        </pc:spChg>
      </pc:sldChg>
      <pc:sldChg chg="addSp delSp modSp">
        <pc:chgData name="Aman Shrivastava" userId="S::ashrivastava@edunetfoundation.org::c21995ab-fa37-4cde-b5a3-dec0fb9e9a10" providerId="AD" clId="Web-{A6B9108B-7598-1D50-C4AA-8A38026DAEEF}" dt="2026-06-19T06:56:04.356" v="13" actId="1076"/>
        <pc:sldMkLst>
          <pc:docMk/>
          <pc:sldMk cId="1229047658" sldId="288"/>
        </pc:sldMkLst>
        <pc:picChg chg="add mod">
          <ac:chgData name="Aman Shrivastava" userId="S::ashrivastava@edunetfoundation.org::c21995ab-fa37-4cde-b5a3-dec0fb9e9a10" providerId="AD" clId="Web-{A6B9108B-7598-1D50-C4AA-8A38026DAEEF}" dt="2026-06-19T06:56:04.356" v="13" actId="1076"/>
          <ac:picMkLst>
            <pc:docMk/>
            <pc:sldMk cId="1229047658" sldId="288"/>
            <ac:picMk id="4" creationId="{A037CFD0-B7FF-D9BE-3433-88E5844EF332}"/>
          </ac:picMkLst>
        </pc:picChg>
      </pc:sldChg>
      <pc:sldChg chg="addSp delSp modSp">
        <pc:chgData name="Aman Shrivastava" userId="S::ashrivastava@edunetfoundation.org::c21995ab-fa37-4cde-b5a3-dec0fb9e9a10" providerId="AD" clId="Web-{A6B9108B-7598-1D50-C4AA-8A38026DAEEF}" dt="2026-06-19T06:53:17.010" v="3"/>
        <pc:sldMkLst>
          <pc:docMk/>
          <pc:sldMk cId="2506610743" sldId="28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48C2B95B-FB15-C156-6AF1-35B358181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770A13E9-BC77-63DA-E106-A3FA80228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29067B0F-2F4F-7081-A661-0AE31BFBB7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055410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E37D20EF-0791-5303-F96E-0F0C1B50B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9DCBA8EB-6D71-7B5E-841C-4BFFBDA5F1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5C2CD162-5BE5-06C8-E06C-B4A49D4BCF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313540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11626E4B-E119-2382-6F8F-518641144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01A6FF9F-971F-6CD8-61F5-25638A5985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C8EB5C80-6A4B-AE05-9BE0-03B5AF5C22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827365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>
          <a:extLst>
            <a:ext uri="{FF2B5EF4-FFF2-40B4-BE49-F238E27FC236}">
              <a16:creationId xmlns:a16="http://schemas.microsoft.com/office/drawing/2014/main" id="{59B870D7-ED5B-C7CD-FB99-2991954CA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>
            <a:extLst>
              <a:ext uri="{FF2B5EF4-FFF2-40B4-BE49-F238E27FC236}">
                <a16:creationId xmlns:a16="http://schemas.microsoft.com/office/drawing/2014/main" id="{C8B270BB-F67C-52E3-249C-6FE0C237CA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5:notes">
            <a:extLst>
              <a:ext uri="{FF2B5EF4-FFF2-40B4-BE49-F238E27FC236}">
                <a16:creationId xmlns:a16="http://schemas.microsoft.com/office/drawing/2014/main" id="{151B863E-6240-36E9-EB23-2DAA667D25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798578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79463AA-D7FA-5F7E-C4D0-06BDEDCBB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A84E3171-2C5C-8738-5718-5608CE1B13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E16E406D-2512-5EF2-0167-6C89534695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349666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8E9CB32A-B328-07DF-4F33-E0118C920B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8BD392DC-EA03-14B5-7A53-AC36124B41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F90BE8D5-07EC-73D0-0A62-4778024FF0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8420779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C2F88CF5-D0C3-0228-6C1A-E849738B9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15C41DBA-EB5E-9EB1-28D2-68EF3081A2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9AACA92E-BC74-25E5-B8D5-2E658F81C2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75871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A795C14E-5D6A-39A3-2018-2C72BB451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85B8BB2F-0927-3841-AC64-CC67B50358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58797E72-A3BC-0A49-07C4-DE7FDA7523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207868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466C47D1-19F6-52AF-3914-DD3C99058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ACA1F779-4C2B-4CD1-FBDD-A40F0A3223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40004D30-6E86-E263-D5DA-7577B1C759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2216939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2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97BF8-B3EC-77A2-9BFD-D66830272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600" b="1" dirty="0"/>
              <a:t>IBM University Engagement Project Submission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AB85A1-2169-FF43-3E91-E2E8ADA742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4730" y="3903663"/>
            <a:ext cx="10515600" cy="1500187"/>
          </a:xfrm>
        </p:spPr>
        <p:txBody>
          <a:bodyPr/>
          <a:lstStyle/>
          <a:p>
            <a:pPr algn="ctr"/>
            <a:r>
              <a:rPr lang="en-US" b="1" i="1" dirty="0"/>
              <a:t>“Exploring the Power of Agentic AI with IBM Granite and IBM Bob”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285595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690624" y="4425370"/>
            <a:ext cx="10795794" cy="199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endParaRPr sz="15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1102321" y="1174639"/>
            <a:ext cx="7426406" cy="451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endParaRPr sz="3200" b="1" i="0" u="none" strike="noStrike" cap="non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96" name="Google Shape;96;p2"/>
          <p:cNvGraphicFramePr/>
          <p:nvPr>
            <p:extLst>
              <p:ext uri="{D42A27DB-BD31-4B8C-83A1-F6EECF244321}">
                <p14:modId xmlns:p14="http://schemas.microsoft.com/office/powerpoint/2010/main" val="1309741489"/>
              </p:ext>
            </p:extLst>
          </p:nvPr>
        </p:nvGraphicFramePr>
        <p:xfrm>
          <a:off x="1130710" y="2600315"/>
          <a:ext cx="9802760" cy="2610782"/>
        </p:xfrm>
        <a:graphic>
          <a:graphicData uri="http://schemas.openxmlformats.org/drawingml/2006/table">
            <a:tbl>
              <a:tblPr>
                <a:noFill/>
                <a:tableStyleId>{0AAD8F4D-43EB-41E5-8A38-28AB6DFB1B60}</a:tableStyleId>
              </a:tblPr>
              <a:tblGrid>
                <a:gridCol w="21636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463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1224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8051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17247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 dirty="0"/>
                        <a:t>Student Name</a:t>
                      </a:r>
                      <a:endParaRPr sz="2000" u="none" strike="noStrike" cap="none" dirty="0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 dirty="0"/>
                        <a:t>Recent Passport Photo</a:t>
                      </a:r>
                      <a:endParaRPr sz="2000" u="none" strike="noStrike" cap="none" dirty="0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Email ID </a:t>
                      </a:r>
                      <a:endParaRPr sz="20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20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Mobile number</a:t>
                      </a:r>
                      <a:endParaRPr sz="20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20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[WhatsApp</a:t>
                      </a: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] 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38304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2000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dirty="0"/>
                        <a:t>Shayna Sharma</a:t>
                      </a:r>
                      <a:endParaRPr sz="2000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/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2000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dirty="0"/>
                        <a:t>sharmashayna687@gmail.com</a:t>
                      </a:r>
                      <a:endParaRPr sz="2000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2000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dirty="0"/>
                        <a:t>7018332404</a:t>
                      </a:r>
                      <a:endParaRPr sz="2000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A828B9EF-C084-F5D4-CA27-75AF7D995640}"/>
              </a:ext>
            </a:extLst>
          </p:cNvPr>
          <p:cNvSpPr txBox="1"/>
          <p:nvPr/>
        </p:nvSpPr>
        <p:spPr>
          <a:xfrm>
            <a:off x="1206164" y="1460724"/>
            <a:ext cx="102802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Domain of  Project – </a:t>
            </a:r>
            <a:r>
              <a:rPr lang="en-US" sz="2400" b="1" dirty="0">
                <a:highlight>
                  <a:srgbClr val="FFFF00"/>
                </a:highlight>
              </a:rPr>
              <a:t>[</a:t>
            </a:r>
            <a:r>
              <a:rPr lang="en-IN" sz="2400" dirty="0">
                <a:highlight>
                  <a:srgbClr val="FFFF00"/>
                </a:highlight>
              </a:rPr>
              <a:t>Education + Artificial Intelligence</a:t>
            </a:r>
            <a:r>
              <a:rPr lang="en-US" sz="2400" b="1" dirty="0">
                <a:highlight>
                  <a:srgbClr val="FFFF00"/>
                </a:highlight>
              </a:rPr>
              <a:t>]</a:t>
            </a:r>
            <a:endParaRPr lang="en-IN" sz="2400" b="1" dirty="0">
              <a:highlight>
                <a:srgbClr val="FFFF00"/>
              </a:highligh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723CA3-EC2D-165A-F109-3759C4E9C8A4}"/>
              </a:ext>
            </a:extLst>
          </p:cNvPr>
          <p:cNvSpPr txBox="1"/>
          <p:nvPr/>
        </p:nvSpPr>
        <p:spPr>
          <a:xfrm>
            <a:off x="1206162" y="551965"/>
            <a:ext cx="95811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Project Tile – </a:t>
            </a:r>
            <a:r>
              <a:rPr lang="en-US" sz="2800" b="1" dirty="0">
                <a:highlight>
                  <a:srgbClr val="FFFF00"/>
                </a:highlight>
              </a:rPr>
              <a:t>[</a:t>
            </a:r>
            <a:r>
              <a:rPr lang="en-IN" sz="2800" dirty="0"/>
              <a:t>Interview Trainer Agent</a:t>
            </a:r>
            <a:r>
              <a:rPr lang="en-US" sz="2800" b="1" dirty="0">
                <a:highlight>
                  <a:srgbClr val="FFFF00"/>
                </a:highlight>
              </a:rPr>
              <a:t>]</a:t>
            </a:r>
            <a:endParaRPr lang="en-IN" sz="2800" b="1" dirty="0">
              <a:highlight>
                <a:srgbClr val="FFFF00"/>
              </a:highlight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1AC13D2-8778-FB7A-9FBE-558464DA33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9928" y="3756792"/>
            <a:ext cx="1541001" cy="1444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23178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F4C0A7C6-2888-EA53-35AB-4072E6B1F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6F6745E-14BA-0766-CE1E-32E29663832D}"/>
              </a:ext>
            </a:extLst>
          </p:cNvPr>
          <p:cNvSpPr txBox="1"/>
          <p:nvPr/>
        </p:nvSpPr>
        <p:spPr>
          <a:xfrm>
            <a:off x="536742" y="1145949"/>
            <a:ext cx="10607040" cy="56015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sz="2400" b="1" dirty="0"/>
              <a:t>Problem Statement : </a:t>
            </a:r>
            <a:r>
              <a:rPr lang="en-IN" sz="2400" b="1" dirty="0"/>
              <a:t>AI Interview Trainer</a:t>
            </a:r>
            <a:endParaRPr lang="en-US" sz="2400" b="1" dirty="0"/>
          </a:p>
          <a:p>
            <a:pPr fontAlgn="base"/>
            <a:endParaRPr lang="en-US" b="1" dirty="0"/>
          </a:p>
          <a:p>
            <a:pPr fontAlgn="base"/>
            <a:r>
              <a:rPr lang="en-US" sz="1800" b="1" dirty="0"/>
              <a:t>The Challenge</a:t>
            </a:r>
            <a:r>
              <a:rPr lang="en-US" sz="1800" dirty="0"/>
              <a:t> </a:t>
            </a:r>
          </a:p>
          <a:p>
            <a:pPr fontAlgn="base"/>
            <a:r>
              <a:rPr lang="en-IN" sz="1600" dirty="0"/>
              <a:t>Preparing for technical interviews can be difficult due to </a:t>
            </a:r>
            <a:r>
              <a:rPr lang="en-IN" sz="1600" b="1" dirty="0"/>
              <a:t>limited personalized practice, generic question banks, and lack of immediate feedback</a:t>
            </a:r>
            <a:r>
              <a:rPr lang="en-IN" sz="1600" dirty="0"/>
              <a:t>. Candidates often struggle to identify weaknesses in their answers and improve their interview performance without proper guidance.</a:t>
            </a:r>
          </a:p>
          <a:p>
            <a:pPr fontAlgn="base"/>
            <a:endParaRPr lang="en-US" sz="1600" dirty="0"/>
          </a:p>
          <a:p>
            <a:pPr fontAlgn="base"/>
            <a:r>
              <a:rPr lang="en-US" sz="1800" b="1" dirty="0"/>
              <a:t>The Objective</a:t>
            </a:r>
            <a:r>
              <a:rPr lang="en-US" sz="1800" dirty="0"/>
              <a:t> </a:t>
            </a:r>
          </a:p>
          <a:p>
            <a:pPr fontAlgn="base"/>
            <a:endParaRPr lang="en-US" sz="1600" dirty="0"/>
          </a:p>
          <a:p>
            <a:r>
              <a:rPr lang="en-IN" sz="1600" dirty="0"/>
              <a:t>Build an </a:t>
            </a:r>
            <a:r>
              <a:rPr lang="en-IN" sz="1600" b="1" dirty="0"/>
              <a:t>AI-powered Interview Trainer</a:t>
            </a:r>
            <a:r>
              <a:rPr lang="en-IN" sz="1600" dirty="0"/>
              <a:t> that provides </a:t>
            </a:r>
            <a:r>
              <a:rPr lang="en-IN" sz="1600" b="1" dirty="0"/>
              <a:t>personalized interview practice, intelligent question generation, and automated feedback</a:t>
            </a:r>
            <a:r>
              <a:rPr lang="en-IN" sz="1600" dirty="0"/>
              <a:t> based on the candidate's selected role. The solution should:</a:t>
            </a:r>
          </a:p>
          <a:p>
            <a:endParaRPr lang="en-IN" sz="1600" dirty="0"/>
          </a:p>
          <a:p>
            <a:r>
              <a:rPr lang="en-IN" sz="1600" dirty="0"/>
              <a:t>• </a:t>
            </a:r>
            <a:r>
              <a:rPr lang="en-IN" sz="1600" b="1" dirty="0"/>
              <a:t>Role-Based Questions</a:t>
            </a:r>
            <a:r>
              <a:rPr lang="en-IN" sz="1600" dirty="0"/>
              <a:t> – Generate relevant interview questions based on the selected job role and difficulty level.</a:t>
            </a:r>
          </a:p>
          <a:p>
            <a:r>
              <a:rPr lang="en-IN" sz="1600" dirty="0"/>
              <a:t>• </a:t>
            </a:r>
            <a:r>
              <a:rPr lang="en-IN" sz="1600" b="1" dirty="0"/>
              <a:t>AI Question Generation</a:t>
            </a:r>
            <a:r>
              <a:rPr lang="en-IN" sz="1600" dirty="0"/>
              <a:t> – Use </a:t>
            </a:r>
            <a:r>
              <a:rPr lang="en-IN" sz="1600" b="1" dirty="0"/>
              <a:t>IBM Granite</a:t>
            </a:r>
            <a:r>
              <a:rPr lang="en-IN" sz="1600" dirty="0"/>
              <a:t> to dynamically generate contextual and role-specific interview questions.</a:t>
            </a:r>
          </a:p>
          <a:p>
            <a:r>
              <a:rPr lang="en-IN" sz="1600" dirty="0"/>
              <a:t>• </a:t>
            </a:r>
            <a:r>
              <a:rPr lang="en-IN" sz="1600" b="1" dirty="0"/>
              <a:t>Answer Evaluation &amp; Scoring</a:t>
            </a:r>
            <a:r>
              <a:rPr lang="en-IN" sz="1600" dirty="0"/>
              <a:t> – </a:t>
            </a:r>
            <a:r>
              <a:rPr lang="en-IN" sz="1600" dirty="0" err="1"/>
              <a:t>Analyze</a:t>
            </a:r>
            <a:r>
              <a:rPr lang="en-IN" sz="1600" dirty="0"/>
              <a:t> candidate answers and provide </a:t>
            </a:r>
            <a:r>
              <a:rPr lang="en-IN" sz="1600" b="1" dirty="0"/>
              <a:t>scores, strengths, feedback, and areas for improvement</a:t>
            </a:r>
            <a:r>
              <a:rPr lang="en-IN" sz="1600" dirty="0"/>
              <a:t>.</a:t>
            </a:r>
          </a:p>
          <a:p>
            <a:r>
              <a:rPr lang="en-IN" sz="1600" dirty="0"/>
              <a:t>• </a:t>
            </a:r>
            <a:r>
              <a:rPr lang="en-IN" sz="1600" b="1" dirty="0"/>
              <a:t>Adaptive Interview Flow</a:t>
            </a:r>
            <a:r>
              <a:rPr lang="en-IN" sz="1600" dirty="0"/>
              <a:t> – Generate the next relevant question based on the ongoing interview and selected role.</a:t>
            </a:r>
          </a:p>
          <a:p>
            <a:r>
              <a:rPr lang="en-IN" sz="1600" dirty="0"/>
              <a:t>• </a:t>
            </a:r>
            <a:r>
              <a:rPr lang="en-IN" sz="1600" b="1" dirty="0"/>
              <a:t>Performance Report</a:t>
            </a:r>
            <a:r>
              <a:rPr lang="en-IN" sz="1600" dirty="0"/>
              <a:t> – Provide an overall summary of interview performance and highlight areas that require improvement.</a:t>
            </a:r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47FA31-EA47-D27A-9D69-AF50A3080AEC}"/>
              </a:ext>
            </a:extLst>
          </p:cNvPr>
          <p:cNvSpPr txBox="1"/>
          <p:nvPr/>
        </p:nvSpPr>
        <p:spPr>
          <a:xfrm>
            <a:off x="576072" y="546771"/>
            <a:ext cx="72146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Problem Statement -</a:t>
            </a:r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2616533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0471B467-61AA-7BCA-460D-43041E805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1BF701-ABCA-4DF0-8330-B6AF71EF8E39}"/>
              </a:ext>
            </a:extLst>
          </p:cNvPr>
          <p:cNvSpPr txBox="1"/>
          <p:nvPr/>
        </p:nvSpPr>
        <p:spPr>
          <a:xfrm>
            <a:off x="408923" y="782156"/>
            <a:ext cx="11212805" cy="5878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Proposed Solution: AI-Powered Interview Trainer</a:t>
            </a:r>
          </a:p>
          <a:p>
            <a:endParaRPr lang="en-IN" sz="2000" dirty="0"/>
          </a:p>
          <a:p>
            <a:r>
              <a:rPr lang="en-IN" sz="1600" dirty="0"/>
              <a:t>The proposed solution is an </a:t>
            </a:r>
            <a:r>
              <a:rPr lang="en-IN" sz="1600" b="1" dirty="0"/>
              <a:t>AI-powered Interview Trainer</a:t>
            </a:r>
            <a:r>
              <a:rPr lang="en-IN" sz="1600" dirty="0"/>
              <a:t> designed to provide </a:t>
            </a:r>
            <a:r>
              <a:rPr lang="en-IN" sz="1600" b="1" dirty="0"/>
              <a:t>personalized and interactive interview practice</a:t>
            </a:r>
            <a:r>
              <a:rPr lang="en-IN" sz="1600" dirty="0"/>
              <a:t>. The system helps candidates prepare for interviews through intelligent question generation, automated evaluation, and continuous feedback.</a:t>
            </a:r>
          </a:p>
          <a:p>
            <a:endParaRPr lang="en-IN" sz="1600" dirty="0"/>
          </a:p>
          <a:p>
            <a:r>
              <a:rPr lang="en-IN" sz="1600" b="1" dirty="0"/>
              <a:t>Core Features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Personalized Interview Practice</a:t>
            </a:r>
            <a:r>
              <a:rPr lang="en-IN" sz="1600" dirty="0"/>
              <a:t> – Allows candidates to select their desired </a:t>
            </a:r>
            <a:r>
              <a:rPr lang="en-IN" sz="1600" b="1" dirty="0"/>
              <a:t>job role and difficulty level</a:t>
            </a:r>
            <a:r>
              <a:rPr lang="en-IN" sz="1600" dirty="0"/>
              <a:t> for targeted preparation.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Interview Question Generation</a:t>
            </a:r>
            <a:r>
              <a:rPr lang="en-IN" sz="1600" dirty="0"/>
              <a:t> – Generates </a:t>
            </a:r>
            <a:r>
              <a:rPr lang="en-IN" sz="1600" b="1" dirty="0"/>
              <a:t>relevant and contextual interview questions</a:t>
            </a:r>
            <a:r>
              <a:rPr lang="en-IN" sz="1600" dirty="0"/>
              <a:t> based on the selected role and interview requirements.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Answer Evaluation &amp; Scoring</a:t>
            </a:r>
            <a:r>
              <a:rPr lang="en-IN" sz="1600" dirty="0"/>
              <a:t> – </a:t>
            </a:r>
            <a:r>
              <a:rPr lang="en-IN" sz="1600" dirty="0" err="1"/>
              <a:t>Analyzes</a:t>
            </a:r>
            <a:r>
              <a:rPr lang="en-IN" sz="1600" dirty="0"/>
              <a:t> candidate responses and provides </a:t>
            </a:r>
            <a:r>
              <a:rPr lang="en-IN" sz="1600" b="1" dirty="0"/>
              <a:t>scores, strengths, weaknesses, and actionable feedback</a:t>
            </a:r>
            <a:r>
              <a:rPr lang="en-IN" sz="1600" dirty="0"/>
              <a:t>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Adaptive Interview Flow</a:t>
            </a:r>
            <a:r>
              <a:rPr lang="en-IN" sz="1600" dirty="0"/>
              <a:t> – Generates the </a:t>
            </a:r>
            <a:r>
              <a:rPr lang="en-IN" sz="1600" b="1" dirty="0"/>
              <a:t>next relevant question</a:t>
            </a:r>
            <a:r>
              <a:rPr lang="en-IN" sz="1600" dirty="0"/>
              <a:t> according to the selected role and ongoing interview context.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Continuous Feedback</a:t>
            </a:r>
            <a:r>
              <a:rPr lang="en-IN" sz="1600" dirty="0"/>
              <a:t> – Helps candidates understand their mistakes and identify </a:t>
            </a:r>
            <a:r>
              <a:rPr lang="en-IN" sz="1600" b="1" dirty="0"/>
              <a:t>areas requiring improvement</a:t>
            </a:r>
            <a:r>
              <a:rPr lang="en-IN" sz="1600" dirty="0"/>
              <a:t> throughout the interview.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Performance Report</a:t>
            </a:r>
            <a:r>
              <a:rPr lang="en-IN" sz="1600" dirty="0"/>
              <a:t> – Provides an overall summary of the candidate's </a:t>
            </a:r>
            <a:r>
              <a:rPr lang="en-IN" sz="1600" b="1" dirty="0"/>
              <a:t>interview performance and improvement areas</a:t>
            </a:r>
            <a:r>
              <a:rPr lang="en-IN" sz="1600" dirty="0"/>
              <a:t>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sz="1600" dirty="0"/>
          </a:p>
          <a:p>
            <a:r>
              <a:rPr lang="en-IN" sz="1600" b="1" dirty="0"/>
              <a:t>Overall Outcome</a:t>
            </a:r>
          </a:p>
          <a:p>
            <a:r>
              <a:rPr lang="en-IN" sz="1600" dirty="0"/>
              <a:t>The solution provides an </a:t>
            </a:r>
            <a:r>
              <a:rPr lang="en-IN" sz="1600" b="1" dirty="0"/>
              <a:t>end-to-end AI interview practice experience</a:t>
            </a:r>
            <a:r>
              <a:rPr lang="en-IN" sz="1600" dirty="0"/>
              <a:t>, helping candidates improve their </a:t>
            </a:r>
            <a:r>
              <a:rPr lang="en-IN" sz="1600" b="1" dirty="0"/>
              <a:t>technical preparation, answer quality, and interview performance</a:t>
            </a:r>
            <a:r>
              <a:rPr lang="en-IN" sz="1600" dirty="0"/>
              <a:t> through personalized practice and feedback.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7F30CC-07EF-8FCC-DA00-C9212F5DAECE}"/>
              </a:ext>
            </a:extLst>
          </p:cNvPr>
          <p:cNvSpPr txBox="1"/>
          <p:nvPr/>
        </p:nvSpPr>
        <p:spPr>
          <a:xfrm>
            <a:off x="448253" y="192810"/>
            <a:ext cx="72146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Proposed Solution -</a:t>
            </a:r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6194599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7C2A09DE-0AE2-AA94-B2C1-84FDBDB9D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51FBD4A-3273-E454-091D-D5B0678FC299}"/>
              </a:ext>
            </a:extLst>
          </p:cNvPr>
          <p:cNvSpPr txBox="1"/>
          <p:nvPr/>
        </p:nvSpPr>
        <p:spPr>
          <a:xfrm>
            <a:off x="521600" y="484633"/>
            <a:ext cx="7123176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400" b="1" dirty="0"/>
              <a:t>Technology Used</a:t>
            </a:r>
            <a:endParaRPr lang="en-IN" sz="24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7608B5-9906-EFCF-959A-E89FC2E3EE19}"/>
              </a:ext>
            </a:extLst>
          </p:cNvPr>
          <p:cNvSpPr txBox="1"/>
          <p:nvPr/>
        </p:nvSpPr>
        <p:spPr>
          <a:xfrm>
            <a:off x="511277" y="1187344"/>
            <a:ext cx="11474246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• </a:t>
            </a:r>
            <a:r>
              <a:rPr lang="en-IN" sz="1600" b="1" dirty="0"/>
              <a:t>IBM Bob Platform</a:t>
            </a:r>
            <a:r>
              <a:rPr lang="en-IN" sz="1600" dirty="0"/>
              <a:t> – Used for </a:t>
            </a:r>
            <a:r>
              <a:rPr lang="en-IN" sz="1600" b="1" dirty="0"/>
              <a:t>AI-assisted application development, code generation, debugging, and refinement</a:t>
            </a:r>
            <a:r>
              <a:rPr lang="en-IN" sz="1600" dirty="0"/>
              <a:t> of the project.</a:t>
            </a:r>
          </a:p>
          <a:p>
            <a:endParaRPr lang="en-IN" sz="1600" dirty="0"/>
          </a:p>
          <a:p>
            <a:r>
              <a:rPr lang="en-IN" sz="1600" dirty="0"/>
              <a:t>• </a:t>
            </a:r>
            <a:r>
              <a:rPr lang="en-IN" sz="1600" b="1" dirty="0"/>
              <a:t>IBM Granite Model</a:t>
            </a:r>
            <a:r>
              <a:rPr lang="en-IN" sz="1600" dirty="0"/>
              <a:t> – Used for </a:t>
            </a:r>
            <a:r>
              <a:rPr lang="en-IN" sz="1600" b="1" dirty="0"/>
              <a:t>natural language understanding, question generation, reasoning, and answer evaluation</a:t>
            </a:r>
            <a:r>
              <a:rPr lang="en-IN" sz="1600" dirty="0"/>
              <a:t>.</a:t>
            </a:r>
          </a:p>
          <a:p>
            <a:endParaRPr lang="en-IN" sz="1600" dirty="0"/>
          </a:p>
          <a:p>
            <a:r>
              <a:rPr lang="en-IN" sz="1600" dirty="0"/>
              <a:t>• </a:t>
            </a:r>
            <a:r>
              <a:rPr lang="en-IN" sz="1600" b="1" dirty="0"/>
              <a:t>Flask / Python</a:t>
            </a:r>
            <a:r>
              <a:rPr lang="en-IN" sz="1600" dirty="0"/>
              <a:t> – Used to build the </a:t>
            </a:r>
            <a:r>
              <a:rPr lang="en-IN" sz="1600" b="1" dirty="0"/>
              <a:t>backend APIs and application logic</a:t>
            </a:r>
            <a:r>
              <a:rPr lang="en-IN" sz="1600" dirty="0"/>
              <a:t>, handling communication between the frontend and AI services.</a:t>
            </a:r>
          </a:p>
          <a:p>
            <a:endParaRPr lang="en-IN" sz="1600" dirty="0"/>
          </a:p>
          <a:p>
            <a:r>
              <a:rPr lang="en-IN" sz="1600" dirty="0"/>
              <a:t>• </a:t>
            </a:r>
            <a:r>
              <a:rPr lang="en-IN" sz="1600" b="1" dirty="0"/>
              <a:t>React.js</a:t>
            </a:r>
            <a:r>
              <a:rPr lang="en-IN" sz="1600" dirty="0"/>
              <a:t> – Used to develop the </a:t>
            </a:r>
            <a:r>
              <a:rPr lang="en-IN" sz="1600" b="1" dirty="0"/>
              <a:t>interactive and user-friendly frontend</a:t>
            </a:r>
            <a:r>
              <a:rPr lang="en-IN" sz="1600" dirty="0"/>
              <a:t> for conducting interview sessions and displaying results.</a:t>
            </a:r>
          </a:p>
          <a:p>
            <a:endParaRPr lang="en-IN" sz="1600" dirty="0"/>
          </a:p>
          <a:p>
            <a:r>
              <a:rPr lang="en-IN" sz="1600" dirty="0"/>
              <a:t>• </a:t>
            </a:r>
            <a:r>
              <a:rPr lang="en-IN" sz="1600" b="1" dirty="0"/>
              <a:t>IBM Cloud / IBM AI Services</a:t>
            </a:r>
            <a:r>
              <a:rPr lang="en-IN" sz="1600" dirty="0"/>
              <a:t> – Used to provide access to the </a:t>
            </a:r>
            <a:r>
              <a:rPr lang="en-IN" sz="1600" b="1" dirty="0"/>
              <a:t>IBM Granite AI capabilities</a:t>
            </a:r>
            <a:r>
              <a:rPr lang="en-IN" sz="1600" dirty="0"/>
              <a:t> required for intelligent interview processing.</a:t>
            </a:r>
          </a:p>
          <a:p>
            <a:endParaRPr lang="en-IN" sz="1600" dirty="0"/>
          </a:p>
          <a:p>
            <a:r>
              <a:rPr lang="en-IN" sz="1600" dirty="0"/>
              <a:t>• </a:t>
            </a:r>
            <a:r>
              <a:rPr lang="en-IN" sz="1600" b="1" dirty="0"/>
              <a:t>REST APIs</a:t>
            </a:r>
            <a:r>
              <a:rPr lang="en-IN" sz="1600" dirty="0"/>
              <a:t> – Used for </a:t>
            </a:r>
            <a:r>
              <a:rPr lang="en-IN" sz="1600" b="1" dirty="0"/>
              <a:t>communication between the React frontend and Flask backend</a:t>
            </a:r>
            <a:r>
              <a:rPr lang="en-IN" sz="1600" dirty="0"/>
              <a:t>.</a:t>
            </a:r>
          </a:p>
          <a:p>
            <a:endParaRPr lang="en-IN" sz="1600" dirty="0"/>
          </a:p>
          <a:p>
            <a:r>
              <a:rPr lang="en-IN" sz="1600" dirty="0"/>
              <a:t>• </a:t>
            </a:r>
            <a:r>
              <a:rPr lang="en-IN" sz="1600" b="1" dirty="0"/>
              <a:t>Environment Configuration (.env)</a:t>
            </a:r>
            <a:r>
              <a:rPr lang="en-IN" sz="1600" dirty="0"/>
              <a:t> – Used to securely manage </a:t>
            </a:r>
            <a:r>
              <a:rPr lang="en-IN" sz="1600" b="1" dirty="0"/>
              <a:t>API credentials and sensitive configuration</a:t>
            </a:r>
            <a:r>
              <a:rPr lang="en-IN" sz="1600" dirty="0"/>
              <a:t> without exposing them in the application code.</a:t>
            </a:r>
          </a:p>
        </p:txBody>
      </p:sp>
    </p:spTree>
    <p:extLst>
      <p:ext uri="{BB962C8B-B14F-4D97-AF65-F5344CB8AC3E}">
        <p14:creationId xmlns:p14="http://schemas.microsoft.com/office/powerpoint/2010/main" val="4436039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>
          <a:extLst>
            <a:ext uri="{FF2B5EF4-FFF2-40B4-BE49-F238E27FC236}">
              <a16:creationId xmlns:a16="http://schemas.microsoft.com/office/drawing/2014/main" id="{CDF2A78E-5A0E-6814-8AF4-0AE54B036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>
            <a:extLst>
              <a:ext uri="{FF2B5EF4-FFF2-40B4-BE49-F238E27FC236}">
                <a16:creationId xmlns:a16="http://schemas.microsoft.com/office/drawing/2014/main" id="{2A145802-2DD3-EEBA-7D44-210C05B98C91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>
                <a:sym typeface="Times New Roman"/>
              </a:rPr>
              <a:t>Required Files created using IBM bob -</a:t>
            </a:r>
            <a:endParaRPr sz="2400" b="1">
              <a:sym typeface="Times New Roman"/>
            </a:endParaRPr>
          </a:p>
        </p:txBody>
      </p:sp>
      <p:sp>
        <p:nvSpPr>
          <p:cNvPr id="148" name="Google Shape;148;p5">
            <a:extLst>
              <a:ext uri="{FF2B5EF4-FFF2-40B4-BE49-F238E27FC236}">
                <a16:creationId xmlns:a16="http://schemas.microsoft.com/office/drawing/2014/main" id="{69E3EADC-1EAD-7419-145C-20998925206E}"/>
              </a:ext>
            </a:extLst>
          </p:cNvPr>
          <p:cNvSpPr/>
          <p:nvPr/>
        </p:nvSpPr>
        <p:spPr>
          <a:xfrm>
            <a:off x="2264331" y="6784578"/>
            <a:ext cx="2140744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p5">
            <a:extLst>
              <a:ext uri="{FF2B5EF4-FFF2-40B4-BE49-F238E27FC236}">
                <a16:creationId xmlns:a16="http://schemas.microsoft.com/office/drawing/2014/main" id="{04E5872A-C331-C8F3-5D71-8E953BAAFE03}"/>
              </a:ext>
            </a:extLst>
          </p:cNvPr>
          <p:cNvSpPr/>
          <p:nvPr/>
        </p:nvSpPr>
        <p:spPr>
          <a:xfrm>
            <a:off x="1782604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5">
            <a:extLst>
              <a:ext uri="{FF2B5EF4-FFF2-40B4-BE49-F238E27FC236}">
                <a16:creationId xmlns:a16="http://schemas.microsoft.com/office/drawing/2014/main" id="{76EF3801-5D99-5EFA-9AA2-AD265775E354}"/>
              </a:ext>
            </a:extLst>
          </p:cNvPr>
          <p:cNvSpPr/>
          <p:nvPr/>
        </p:nvSpPr>
        <p:spPr>
          <a:xfrm>
            <a:off x="5732383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" name="Google Shape;151;p5">
            <a:extLst>
              <a:ext uri="{FF2B5EF4-FFF2-40B4-BE49-F238E27FC236}">
                <a16:creationId xmlns:a16="http://schemas.microsoft.com/office/drawing/2014/main" id="{DAD76A8A-9F2C-9EA9-25E9-40CD0FFAA869}"/>
              </a:ext>
            </a:extLst>
          </p:cNvPr>
          <p:cNvSpPr/>
          <p:nvPr/>
        </p:nvSpPr>
        <p:spPr>
          <a:xfrm>
            <a:off x="5077301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5">
            <a:extLst>
              <a:ext uri="{FF2B5EF4-FFF2-40B4-BE49-F238E27FC236}">
                <a16:creationId xmlns:a16="http://schemas.microsoft.com/office/drawing/2014/main" id="{8D9C4260-2673-337C-C898-4C22E0F8FD65}"/>
              </a:ext>
            </a:extLst>
          </p:cNvPr>
          <p:cNvSpPr/>
          <p:nvPr/>
        </p:nvSpPr>
        <p:spPr>
          <a:xfrm>
            <a:off x="9027081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5">
            <a:extLst>
              <a:ext uri="{FF2B5EF4-FFF2-40B4-BE49-F238E27FC236}">
                <a16:creationId xmlns:a16="http://schemas.microsoft.com/office/drawing/2014/main" id="{6167C3C6-3747-E373-84C3-3927C443B067}"/>
              </a:ext>
            </a:extLst>
          </p:cNvPr>
          <p:cNvSpPr/>
          <p:nvPr/>
        </p:nvSpPr>
        <p:spPr>
          <a:xfrm>
            <a:off x="8371999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08E2E4F-CF8A-2C17-8AB9-E0BB987C2C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4921" y="1003547"/>
            <a:ext cx="9036359" cy="5620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49636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CA6090C0-0478-84F9-6D20-717B6FEB7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B64CF172-D2AF-03D8-F919-AA7827A0D969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3500" b="1" i="0" u="none" strike="noStrike" cap="none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 i="0" u="none" strike="noStrike" cap="none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IBM Bob Screenshots:</a:t>
            </a:r>
            <a:endParaRPr sz="2400" b="1">
              <a:sym typeface="Times New Roman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03A234D-1B08-4B37-CDC5-B0395A44BD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120" y="1047529"/>
            <a:ext cx="10302240" cy="5484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65455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50BAF30-8994-C475-6918-99A8D738B37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897" r="17919"/>
          <a:stretch>
            <a:fillRect/>
          </a:stretch>
        </p:blipFill>
        <p:spPr>
          <a:xfrm>
            <a:off x="2025571" y="865777"/>
            <a:ext cx="8727310" cy="572021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38D78E4-C4AE-EB3F-D4BC-413B4B7560A5}"/>
              </a:ext>
            </a:extLst>
          </p:cNvPr>
          <p:cNvSpPr txBox="1"/>
          <p:nvPr/>
        </p:nvSpPr>
        <p:spPr>
          <a:xfrm>
            <a:off x="312517" y="219919"/>
            <a:ext cx="51854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How my system work:- </a:t>
            </a:r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27680120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78578745-3233-E2C4-2AF4-55BA57C68D3F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endParaRPr lang="en-US" sz="2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BD6E472-676F-079A-0995-583638D2BE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471" y="243069"/>
            <a:ext cx="11821610" cy="6308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51951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1985" y="1167493"/>
            <a:ext cx="3015343" cy="452301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84A7B44-8B20-5A39-ED43-DA98D0FC7976}"/>
              </a:ext>
            </a:extLst>
          </p:cNvPr>
          <p:cNvSpPr txBox="1"/>
          <p:nvPr/>
        </p:nvSpPr>
        <p:spPr>
          <a:xfrm>
            <a:off x="475488" y="283464"/>
            <a:ext cx="93177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/>
              <a:t>Role of Agentic AI in the solution </a:t>
            </a:r>
            <a:endParaRPr lang="en-IN" sz="3200" b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2462E8-EB3A-DA7D-44CB-4E757803A755}"/>
              </a:ext>
            </a:extLst>
          </p:cNvPr>
          <p:cNvSpPr txBox="1"/>
          <p:nvPr/>
        </p:nvSpPr>
        <p:spPr>
          <a:xfrm>
            <a:off x="621792" y="1167493"/>
            <a:ext cx="7406640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/>
              <a:t>Role of Agentic AI in AI Interview Trainer</a:t>
            </a:r>
            <a:endParaRPr lang="en-IN" sz="1600" dirty="0"/>
          </a:p>
          <a:p>
            <a:r>
              <a:rPr lang="en-IN" sz="1600" b="1" dirty="0"/>
              <a:t>Agentic AI</a:t>
            </a:r>
            <a:r>
              <a:rPr lang="en-IN" sz="1600" dirty="0"/>
              <a:t> enables the AI Interview Trainer to function as an intelligent and interactive interview system rather than a simple question-answer application. Using </a:t>
            </a:r>
            <a:r>
              <a:rPr lang="en-IN" sz="1600" b="1" dirty="0"/>
              <a:t>IBM Granite models</a:t>
            </a:r>
            <a:r>
              <a:rPr lang="en-IN" sz="1600" dirty="0"/>
              <a:t>, the system can understand the selected job role and interview context to generate relevant questions and evaluate candidate responses.</a:t>
            </a:r>
          </a:p>
          <a:p>
            <a:r>
              <a:rPr lang="en-IN" sz="1600" dirty="0"/>
              <a:t>The AI performs multiple tasks throughout the interview—such as </a:t>
            </a:r>
            <a:r>
              <a:rPr lang="en-IN" sz="1600" b="1" dirty="0"/>
              <a:t>generating interview questions, </a:t>
            </a:r>
            <a:r>
              <a:rPr lang="en-IN" sz="1600" b="1" dirty="0" err="1"/>
              <a:t>analyzing</a:t>
            </a:r>
            <a:r>
              <a:rPr lang="en-IN" sz="1600" b="1" dirty="0"/>
              <a:t> answers, assigning scores, providing feedback, and generating the next relevant question</a:t>
            </a:r>
            <a:r>
              <a:rPr lang="en-IN" sz="1600" dirty="0"/>
              <a:t>. These tasks work together to create a continuous and personalized interview experience.</a:t>
            </a:r>
          </a:p>
          <a:p>
            <a:r>
              <a:rPr lang="en-IN" sz="1600" dirty="0"/>
              <a:t>Agentic AI also provides </a:t>
            </a:r>
            <a:r>
              <a:rPr lang="en-IN" sz="1600" b="1" dirty="0"/>
              <a:t>context awareness</a:t>
            </a:r>
            <a:r>
              <a:rPr lang="en-IN" sz="1600" dirty="0"/>
              <a:t>, allowing the system to consider factors such as the candidate's selected role, difficulty level, previous questions, and answers while continuing the interview.</a:t>
            </a:r>
          </a:p>
          <a:p>
            <a:r>
              <a:rPr lang="en-IN" sz="1600" dirty="0"/>
              <a:t>It supports </a:t>
            </a:r>
            <a:r>
              <a:rPr lang="en-IN" sz="1600" b="1" dirty="0"/>
              <a:t>dynamic adaptation</a:t>
            </a:r>
            <a:r>
              <a:rPr lang="en-IN" sz="1600" dirty="0"/>
              <a:t>, where the next question can be generated according to the ongoing interview context instead of following a fixed set of questions.</a:t>
            </a:r>
          </a:p>
          <a:p>
            <a:r>
              <a:rPr lang="en-IN" sz="1600" dirty="0"/>
              <a:t>Overall, Agentic AI makes the Interview Trainer more </a:t>
            </a:r>
            <a:r>
              <a:rPr lang="en-IN" sz="1600" b="1" dirty="0"/>
              <a:t>interactive, adaptive, personalized, and goal-driven</a:t>
            </a:r>
            <a:r>
              <a:rPr lang="en-IN" sz="1600" dirty="0"/>
              <a:t>, helping candidates practice realistic interviews and understand their strengths and areas for improvement through AI-powered feedback.</a:t>
            </a:r>
          </a:p>
        </p:txBody>
      </p:sp>
    </p:spTree>
    <p:extLst>
      <p:ext uri="{BB962C8B-B14F-4D97-AF65-F5344CB8AC3E}">
        <p14:creationId xmlns:p14="http://schemas.microsoft.com/office/powerpoint/2010/main" val="40006969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1863F011-FD59-2782-3732-0E3263170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78DA0257-5105-834D-150D-50732C7248D1}"/>
              </a:ext>
            </a:extLst>
          </p:cNvPr>
          <p:cNvSpPr/>
          <p:nvPr/>
        </p:nvSpPr>
        <p:spPr>
          <a:xfrm>
            <a:off x="409144" y="1129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400" b="1" dirty="0">
                <a:sym typeface="Times New Roman"/>
              </a:rPr>
              <a:t> Project Output Screenshot</a:t>
            </a:r>
            <a:endParaRPr sz="2400" b="1" dirty="0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827D77C8-2496-7668-B3B3-927FD4DB704D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46BDB3C0-B0E9-3C3A-A974-6BF43591F3FC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8CB1AEC3-7C17-0CCE-61FA-643373D6AE22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6E4234-FC46-59C3-C57C-426979CDE79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32" t="602" r="-211" b="-602"/>
          <a:stretch>
            <a:fillRect/>
          </a:stretch>
        </p:blipFill>
        <p:spPr>
          <a:xfrm>
            <a:off x="370390" y="1030147"/>
            <a:ext cx="11539959" cy="5625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99618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D4DAA4D-779F-57F0-5D12-A9BBD96C32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89677"/>
            <a:ext cx="12192000" cy="5855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43013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8A7CCCF-2677-8FDE-0654-38306DA612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30475"/>
            <a:ext cx="12192000" cy="5797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12801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1C91823-BAA1-EA50-CA07-8DDB838615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40328"/>
            <a:ext cx="12192000" cy="6000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55362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9AD8471-CD66-2AB5-C9DF-14A53ABA5C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309" y="559821"/>
            <a:ext cx="8329382" cy="5738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9183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AF9B689-E0CD-040A-BF92-4CDF8054CE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4708" y="304529"/>
            <a:ext cx="9201873" cy="6248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43160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DBBB53F-E823-B749-666E-F00CD5CFEE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8355" y="613458"/>
            <a:ext cx="9348149" cy="5464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67443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DEE7B9A-1469-312B-7069-8CBE2FDDDC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2030" y="118802"/>
            <a:ext cx="8358127" cy="6436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3124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3ADAED3-276B-70D2-6281-6B37E66B24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447" y="315567"/>
            <a:ext cx="9607766" cy="6190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40747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00A872F-7F4E-FE3C-8187-A7EC03F8DC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9714" y="763649"/>
            <a:ext cx="9653087" cy="598745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C48F98C-9CE2-41D1-007D-E09EF18BB7F3}"/>
              </a:ext>
            </a:extLst>
          </p:cNvPr>
          <p:cNvSpPr txBox="1"/>
          <p:nvPr/>
        </p:nvSpPr>
        <p:spPr>
          <a:xfrm>
            <a:off x="289367" y="150471"/>
            <a:ext cx="39585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Final Result</a:t>
            </a:r>
            <a:r>
              <a:rPr lang="en-IN" sz="2400" b="1" dirty="0"/>
              <a:t>: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28858846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8A68094-E307-E657-80FC-7C393FA0A2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017" y="811303"/>
            <a:ext cx="8839966" cy="5235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60974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C98ADFB-E571-3A18-162F-EE16CA123D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640" y="685562"/>
            <a:ext cx="10150720" cy="5486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213612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EEDEC80F-FA4E-F3FF-DE90-87B861D0B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A184BA-BCF2-3D7B-30D0-0F3CF30C161B}"/>
              </a:ext>
            </a:extLst>
          </p:cNvPr>
          <p:cNvSpPr txBox="1"/>
          <p:nvPr/>
        </p:nvSpPr>
        <p:spPr>
          <a:xfrm>
            <a:off x="730941" y="380460"/>
            <a:ext cx="7123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Novelty and Uniqueness</a:t>
            </a:r>
            <a:endParaRPr lang="en-IN" sz="24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65F54F-855A-0DB6-09A6-3212C5F7405B}"/>
              </a:ext>
            </a:extLst>
          </p:cNvPr>
          <p:cNvSpPr txBox="1"/>
          <p:nvPr/>
        </p:nvSpPr>
        <p:spPr>
          <a:xfrm>
            <a:off x="358815" y="1044963"/>
            <a:ext cx="11748304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/>
              <a:t>The proposed AI Interview Trainer stands out by combining Agentic AI, contextual understanding, and personalized interview evaluation into a single intelligent system.</a:t>
            </a:r>
          </a:p>
          <a:p>
            <a:endParaRPr lang="en-I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Role-Based Intelligence</a:t>
            </a:r>
            <a:r>
              <a:rPr lang="en-IN" sz="1600" dirty="0"/>
              <a:t> – Generates interview questions according to the candidate’s </a:t>
            </a:r>
            <a:r>
              <a:rPr lang="en-IN" sz="1600" b="1" dirty="0"/>
              <a:t>selected job role and difficulty level</a:t>
            </a:r>
            <a:r>
              <a:rPr lang="en-IN" sz="1600" dirty="0"/>
              <a:t>, ensuring relevant and targeted practice.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AI-Powered Question Generation</a:t>
            </a:r>
            <a:r>
              <a:rPr lang="en-IN" sz="1600" dirty="0"/>
              <a:t> – Uses </a:t>
            </a:r>
            <a:r>
              <a:rPr lang="en-IN" sz="1600" b="1" dirty="0"/>
              <a:t>IBM Granite</a:t>
            </a:r>
            <a:r>
              <a:rPr lang="en-IN" sz="1600" dirty="0"/>
              <a:t> to dynamically generate interview questions instead of relying only on a fixed question bank.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Intelligent Answer Evaluation</a:t>
            </a:r>
            <a:r>
              <a:rPr lang="en-IN" sz="1600" dirty="0"/>
              <a:t> – </a:t>
            </a:r>
            <a:r>
              <a:rPr lang="en-IN" sz="1600" dirty="0" err="1"/>
              <a:t>Analyzes</a:t>
            </a:r>
            <a:r>
              <a:rPr lang="en-IN" sz="1600" dirty="0"/>
              <a:t> candidate responses and provides </a:t>
            </a:r>
            <a:r>
              <a:rPr lang="en-IN" sz="1600" b="1" dirty="0"/>
              <a:t>scores, strengths, weaknesses, and actionable feedback</a:t>
            </a:r>
            <a:r>
              <a:rPr lang="en-IN" sz="1600" dirty="0"/>
              <a:t> to help improve answer quality.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Context-Aware Interview Flow</a:t>
            </a:r>
            <a:r>
              <a:rPr lang="en-IN" sz="1600" dirty="0"/>
              <a:t> – Uses the ongoing interview context, including the </a:t>
            </a:r>
            <a:r>
              <a:rPr lang="en-IN" sz="1600" b="1" dirty="0"/>
              <a:t>role, previous questions, and candidate responses</a:t>
            </a:r>
            <a:r>
              <a:rPr lang="en-IN" sz="1600" dirty="0"/>
              <a:t>, to maintain a relevant interview experience.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Adaptive Questioning</a:t>
            </a:r>
            <a:r>
              <a:rPr lang="en-IN" sz="1600" dirty="0"/>
              <a:t> – Dynamically generates the </a:t>
            </a:r>
            <a:r>
              <a:rPr lang="en-IN" sz="1600" b="1" dirty="0"/>
              <a:t>next relevant question</a:t>
            </a:r>
            <a:r>
              <a:rPr lang="en-IN" sz="1600" dirty="0"/>
              <a:t> based on the ongoing interview rather than following a completely predefined sequence.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Personalized Feedback</a:t>
            </a:r>
            <a:r>
              <a:rPr lang="en-IN" sz="1600" dirty="0"/>
              <a:t> – Provides candidate-specific feedback that highlights </a:t>
            </a:r>
            <a:r>
              <a:rPr lang="en-IN" sz="1600" b="1" dirty="0"/>
              <a:t>areas of improvement and interview performance</a:t>
            </a:r>
            <a:r>
              <a:rPr lang="en-IN" sz="16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End-to-End Interview Experience</a:t>
            </a:r>
            <a:r>
              <a:rPr lang="en-IN" sz="1600" dirty="0"/>
              <a:t> – Combines </a:t>
            </a:r>
            <a:r>
              <a:rPr lang="en-IN" sz="1600" b="1" dirty="0"/>
              <a:t>question generation, answer evaluation, scoring, feedback, and final performance reporting</a:t>
            </a:r>
            <a:r>
              <a:rPr lang="en-IN" sz="1600" dirty="0"/>
              <a:t> into one continuous workflow.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AI-Assisted Development with IBM Bob</a:t>
            </a:r>
            <a:r>
              <a:rPr lang="en-IN" sz="1600" dirty="0"/>
              <a:t> – IBM Bob supports the development process through </a:t>
            </a:r>
            <a:r>
              <a:rPr lang="en-IN" sz="1600" b="1" dirty="0"/>
              <a:t>code generation, debugging, refinement, and application improvement</a:t>
            </a:r>
            <a:r>
              <a:rPr lang="en-IN" sz="16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This makes the solution a </a:t>
            </a:r>
            <a:r>
              <a:rPr lang="en-IN" sz="1600" b="1" dirty="0"/>
              <a:t>smart, adaptive, and personalized AI interview coach</a:t>
            </a:r>
            <a:r>
              <a:rPr lang="en-IN" sz="1600" dirty="0"/>
              <a:t>, rather than a static question-and-answer practice tool.</a:t>
            </a:r>
          </a:p>
        </p:txBody>
      </p:sp>
    </p:spTree>
    <p:extLst>
      <p:ext uri="{BB962C8B-B14F-4D97-AF65-F5344CB8AC3E}">
        <p14:creationId xmlns:p14="http://schemas.microsoft.com/office/powerpoint/2010/main" val="23252822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7BB3C0CA-2F24-30DF-1D65-4440B864F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187EEB9C-2E84-113A-3CE6-1507BF5B039F}"/>
              </a:ext>
            </a:extLst>
          </p:cNvPr>
          <p:cNvSpPr/>
          <p:nvPr/>
        </p:nvSpPr>
        <p:spPr>
          <a:xfrm>
            <a:off x="1288172" y="1381428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3200" b="1" dirty="0">
                <a:sym typeface="Times New Roman"/>
              </a:rPr>
              <a:t>Git Hub Link</a:t>
            </a:r>
            <a:endParaRPr sz="3200" b="1" dirty="0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3711AF54-94A6-B837-31EF-9A8C4ECB9AF6}"/>
              </a:ext>
            </a:extLst>
          </p:cNvPr>
          <p:cNvSpPr/>
          <p:nvPr/>
        </p:nvSpPr>
        <p:spPr>
          <a:xfrm>
            <a:off x="1299745" y="2426928"/>
            <a:ext cx="10101317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US" sz="320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https://github.com/Shayna-Sharma/AI-Interview-Trainer</a:t>
            </a:r>
            <a:endParaRPr sz="32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E228982D-BF81-530A-CBA1-E897A3CA8EF7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7BC356B8-92F8-3187-D065-667AACF68E72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1558A011-60D6-B010-6117-1B9F7C786B2B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04041227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6FA0F82B-7EE5-EAB0-F470-130BDAC82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0668C6FD-577A-7288-5642-1AFC22BD04F2}"/>
              </a:ext>
            </a:extLst>
          </p:cNvPr>
          <p:cNvSpPr/>
          <p:nvPr/>
        </p:nvSpPr>
        <p:spPr>
          <a:xfrm>
            <a:off x="639990" y="443878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800" b="1" dirty="0">
                <a:sym typeface="Times New Roman"/>
              </a:rPr>
              <a:t>Future Scope </a:t>
            </a:r>
            <a:endParaRPr sz="2800" b="1" dirty="0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EAFA16CB-0A72-5AC5-69A0-ABF4A752B43F}"/>
              </a:ext>
            </a:extLst>
          </p:cNvPr>
          <p:cNvSpPr/>
          <p:nvPr/>
        </p:nvSpPr>
        <p:spPr>
          <a:xfrm>
            <a:off x="520860" y="1499508"/>
            <a:ext cx="10752881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IN" sz="2000" b="1" dirty="0"/>
              <a:t>1. Voice-Based Interview &amp; Speech Analysis –</a:t>
            </a:r>
            <a:br>
              <a:rPr lang="en-IN" sz="2000" dirty="0"/>
            </a:br>
            <a:r>
              <a:rPr lang="en-IN" sz="2000" dirty="0"/>
              <a:t>The system can be enhanced with </a:t>
            </a:r>
            <a:r>
              <a:rPr lang="en-IN" sz="2000" b="1" dirty="0"/>
              <a:t>voice-based interview interaction</a:t>
            </a:r>
            <a:r>
              <a:rPr lang="en-IN" sz="2000" dirty="0"/>
              <a:t>, allowing candidates to answer questions verbally instead of only through text. Future versions can </a:t>
            </a:r>
            <a:r>
              <a:rPr lang="en-IN" sz="2000" dirty="0" err="1"/>
              <a:t>analyze</a:t>
            </a:r>
            <a:r>
              <a:rPr lang="en-IN" sz="2000" dirty="0"/>
              <a:t> speech characteristics such as </a:t>
            </a:r>
            <a:r>
              <a:rPr lang="en-IN" sz="2000" b="1" dirty="0"/>
              <a:t>clarity, fluency, and confidence</a:t>
            </a:r>
            <a:r>
              <a:rPr lang="en-IN" sz="2000" dirty="0"/>
              <a:t>, providing additional feedback to improve overall interview communication.</a:t>
            </a:r>
          </a:p>
          <a:p>
            <a:pPr marL="457200" indent="-457200">
              <a:buAutoNum type="arabicPeriod"/>
            </a:pPr>
            <a:endParaRPr lang="en-IN" sz="2000" dirty="0"/>
          </a:p>
          <a:p>
            <a:r>
              <a:rPr lang="en-IN" sz="2000" b="1" dirty="0"/>
              <a:t>2. Advanced Personalized &amp; Adaptive Interviews –</a:t>
            </a:r>
            <a:br>
              <a:rPr lang="en-IN" sz="2000" dirty="0"/>
            </a:br>
            <a:r>
              <a:rPr lang="en-IN" sz="2000" dirty="0"/>
              <a:t>The system can be extended to provide </a:t>
            </a:r>
            <a:r>
              <a:rPr lang="en-IN" sz="2000" b="1" dirty="0"/>
              <a:t>more deeply personalized interview sessions</a:t>
            </a:r>
            <a:r>
              <a:rPr lang="en-IN" sz="2000" dirty="0"/>
              <a:t> by considering the candidate’s previous performance, strengths, weaknesses, and selected job role. The AI can dynamically adjust </a:t>
            </a:r>
            <a:r>
              <a:rPr lang="en-IN" sz="2000" b="1" dirty="0"/>
              <a:t>question difficulty and topics</a:t>
            </a:r>
            <a:r>
              <a:rPr lang="en-IN" sz="2000" dirty="0"/>
              <a:t> based on the candidate’s responses, creating a more realistic and adaptive interview experience.</a:t>
            </a: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B888011B-E4AC-77DB-4A60-BE2C891C49F5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91F05971-9256-10B5-6575-4E7C679C6DAA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F1C3EBC2-438F-C150-9ABF-F14321C2CC5C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74002846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F1C7BCA-5DD7-F4D3-A937-D1C56976DA01}"/>
              </a:ext>
            </a:extLst>
          </p:cNvPr>
          <p:cNvSpPr txBox="1"/>
          <p:nvPr/>
        </p:nvSpPr>
        <p:spPr>
          <a:xfrm>
            <a:off x="327949" y="207380"/>
            <a:ext cx="6096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/>
              <a:t>Certificates Earned:</a:t>
            </a:r>
          </a:p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37D5EE-379B-FDC5-0854-8AC81D31FADF}"/>
              </a:ext>
            </a:extLst>
          </p:cNvPr>
          <p:cNvSpPr txBox="1"/>
          <p:nvPr/>
        </p:nvSpPr>
        <p:spPr>
          <a:xfrm>
            <a:off x="552048" y="690061"/>
            <a:ext cx="11453139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/>
              <a:t>Getting Started with Artificial Intelligence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0B7E359-2FE8-3F08-5C33-F66F4224372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77" t="-563" r="589" b="1942"/>
          <a:stretch>
            <a:fillRect/>
          </a:stretch>
        </p:blipFill>
        <p:spPr>
          <a:xfrm>
            <a:off x="1724628" y="1227728"/>
            <a:ext cx="7812911" cy="5421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348271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D1373DA-0EDE-E9BE-4E28-152EB5AD9A85}"/>
              </a:ext>
            </a:extLst>
          </p:cNvPr>
          <p:cNvSpPr txBox="1"/>
          <p:nvPr/>
        </p:nvSpPr>
        <p:spPr>
          <a:xfrm>
            <a:off x="254642" y="196770"/>
            <a:ext cx="111232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Certificates Earned: </a:t>
            </a:r>
            <a:r>
              <a:rPr lang="en-IN" sz="2400" b="1" dirty="0"/>
              <a:t>Getting Started with Cybersecurity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46E5270-9E9C-CDD7-3BAC-300420DB66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9594" y="752355"/>
            <a:ext cx="9282896" cy="5930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652824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A8544A9-CF92-3FAF-D3EE-31DF90F7A64D}"/>
              </a:ext>
            </a:extLst>
          </p:cNvPr>
          <p:cNvSpPr txBox="1"/>
          <p:nvPr/>
        </p:nvSpPr>
        <p:spPr>
          <a:xfrm>
            <a:off x="176696" y="226391"/>
            <a:ext cx="6096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i="0" u="none" strike="noStrike" baseline="0">
                <a:solidFill>
                  <a:srgbClr val="000000"/>
                </a:solidFill>
                <a:latin typeface="Arial"/>
              </a:rPr>
              <a:t>Certificates Earned:</a:t>
            </a:r>
            <a:r>
              <a:rPr sz="2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​</a:t>
            </a:r>
            <a:endParaRPr lang="en-US"/>
          </a:p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D36B1A-26C2-CD55-1032-4CB5E4EDF305}"/>
              </a:ext>
            </a:extLst>
          </p:cNvPr>
          <p:cNvSpPr txBox="1"/>
          <p:nvPr/>
        </p:nvSpPr>
        <p:spPr>
          <a:xfrm>
            <a:off x="496843" y="800470"/>
            <a:ext cx="5437681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/>
              <a:t>IBM BOB Certificate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3FF2828-7C5E-57B9-FC33-E5A8C5E64BB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116"/>
          <a:stretch>
            <a:fillRect/>
          </a:stretch>
        </p:blipFill>
        <p:spPr>
          <a:xfrm>
            <a:off x="1698304" y="1273215"/>
            <a:ext cx="8702794" cy="5330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517770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190302"/>
            <a:ext cx="12192000" cy="247739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401373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</TotalTime>
  <Words>1195</Words>
  <Application>Microsoft Office PowerPoint</Application>
  <PresentationFormat>Widescreen</PresentationFormat>
  <Paragraphs>103</Paragraphs>
  <Slides>29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3" baseType="lpstr">
      <vt:lpstr>Arial</vt:lpstr>
      <vt:lpstr>Calibri</vt:lpstr>
      <vt:lpstr>Times New Roman</vt:lpstr>
      <vt:lpstr>Office Theme</vt:lpstr>
      <vt:lpstr>IBM University Engagement Project Submission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Manda Anirudh</dc:creator>
  <cp:lastModifiedBy>Shayna Sharma</cp:lastModifiedBy>
  <cp:revision>4</cp:revision>
  <dcterms:created xsi:type="dcterms:W3CDTF">2025-07-08T05:06:56Z</dcterms:created>
  <dcterms:modified xsi:type="dcterms:W3CDTF">2026-09-08T20:47:28Z</dcterms:modified>
</cp:coreProperties>
</file>